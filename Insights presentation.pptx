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6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7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8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7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0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3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8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7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8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0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790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33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6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84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97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32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5D3CA5-3B6F-94CB-3FDE-434971C1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96243C-F67E-6E1F-CD56-6CE154403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Sales Exploratory Data Analysis &amp; Business Insights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1CEFE10-93F9-A837-CC55-01638A56B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3058" y="5739968"/>
            <a:ext cx="3431458" cy="739489"/>
          </a:xfrm>
        </p:spPr>
        <p:txBody>
          <a:bodyPr>
            <a:noAutofit/>
          </a:bodyPr>
          <a:lstStyle/>
          <a:p>
            <a:r>
              <a:rPr lang="en-US" sz="2000" dirty="0"/>
              <a:t>Presented By- Pooja Shrivastava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877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DE8C-57DE-E681-1343-2792D54C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2769"/>
            <a:ext cx="11155680" cy="771734"/>
          </a:xfrm>
        </p:spPr>
        <p:txBody>
          <a:bodyPr/>
          <a:lstStyle/>
          <a:p>
            <a:pPr algn="ctr"/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AD81F-7BA8-7CE2-4AA0-87C803D5C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8320" y="1868128"/>
            <a:ext cx="4955360" cy="4733446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What We Will Cover Today</a:t>
            </a:r>
          </a:p>
          <a:p>
            <a:pPr marL="0" indent="0" algn="ctr">
              <a:buNone/>
            </a:pPr>
            <a:endParaRPr lang="en-US" sz="2800" dirty="0"/>
          </a:p>
          <a:p>
            <a:pPr algn="ctr"/>
            <a:r>
              <a:rPr lang="en-IN" dirty="0"/>
              <a:t>Project Objective &amp; Data Overview</a:t>
            </a:r>
          </a:p>
          <a:p>
            <a:pPr algn="ctr"/>
            <a:r>
              <a:rPr lang="en-IN" dirty="0"/>
              <a:t>High-Level Sales Trends</a:t>
            </a:r>
          </a:p>
          <a:p>
            <a:pPr algn="ctr"/>
            <a:r>
              <a:rPr lang="en-IN" dirty="0"/>
              <a:t>Customer Demographics &amp; Retention</a:t>
            </a:r>
          </a:p>
          <a:p>
            <a:pPr algn="ctr"/>
            <a:r>
              <a:rPr lang="en-IN" dirty="0"/>
              <a:t>Product &amp; Seller Performance</a:t>
            </a:r>
          </a:p>
          <a:p>
            <a:pPr algn="ctr"/>
            <a:r>
              <a:rPr lang="en-IN" dirty="0"/>
              <a:t>Purchasing Behaviour &amp; Payment Trends</a:t>
            </a:r>
          </a:p>
          <a:p>
            <a:pPr algn="ctr"/>
            <a:r>
              <a:rPr lang="en-IN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202072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13B8-FAF8-2160-9879-DE199F26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1063"/>
          </a:xfrm>
        </p:spPr>
        <p:txBody>
          <a:bodyPr/>
          <a:lstStyle/>
          <a:p>
            <a:pPr algn="ctr"/>
            <a:r>
              <a:rPr lang="en-IN" dirty="0"/>
              <a:t>Data Overview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2CE7-D35E-50C9-8B34-6371C2EB6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4943"/>
            <a:ext cx="11155680" cy="3578942"/>
          </a:xfrm>
        </p:spPr>
        <p:txBody>
          <a:bodyPr/>
          <a:lstStyle/>
          <a:p>
            <a:pPr marL="0" indent="0" algn="ctr">
              <a:buNone/>
            </a:pPr>
            <a:r>
              <a:rPr lang="en-IN" sz="2800" dirty="0"/>
              <a:t>Understanding the E-commerce Ecosystem</a:t>
            </a:r>
          </a:p>
          <a:p>
            <a:pPr marL="0" indent="0" algn="ctr">
              <a:buNone/>
            </a:pPr>
            <a:endParaRPr lang="en-IN" sz="2800" dirty="0"/>
          </a:p>
          <a:p>
            <a:r>
              <a:rPr lang="en-US" b="1" dirty="0"/>
              <a:t>Objective:</a:t>
            </a:r>
            <a:r>
              <a:rPr lang="en-US" dirty="0"/>
              <a:t> To analyze historical sales data to extract actionable business metrics and understand market dynamics</a:t>
            </a:r>
          </a:p>
          <a:p>
            <a:r>
              <a:rPr lang="en-US" b="1" dirty="0"/>
              <a:t>Data Scope:</a:t>
            </a:r>
            <a:r>
              <a:rPr lang="en-US" dirty="0"/>
              <a:t> Merged multiple datasets including Customers, Orders, Payments, Products, and Sellers.</a:t>
            </a:r>
          </a:p>
          <a:p>
            <a:r>
              <a:rPr lang="en-US" b="1" dirty="0"/>
              <a:t>Scale:</a:t>
            </a:r>
            <a:r>
              <a:rPr lang="en-US" dirty="0"/>
              <a:t> Consolidated and analyzed over 112,000 order instances.</a:t>
            </a:r>
          </a:p>
          <a:p>
            <a:r>
              <a:rPr lang="en-US" b="1" dirty="0"/>
              <a:t>Key Focus:</a:t>
            </a:r>
            <a:r>
              <a:rPr lang="en-US" dirty="0"/>
              <a:t> YoY Growth, Customer Retention, and Revenue Drivers.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98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49D8B3-5D8F-05E7-8582-DB3E3D603FF2}"/>
              </a:ext>
            </a:extLst>
          </p:cNvPr>
          <p:cNvSpPr txBox="1"/>
          <p:nvPr/>
        </p:nvSpPr>
        <p:spPr>
          <a:xfrm>
            <a:off x="226143" y="2013521"/>
            <a:ext cx="515210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Customer concentration</a:t>
            </a:r>
            <a:r>
              <a:rPr lang="en-US" dirty="0"/>
              <a:t>: The chart highlights the cities with the largest customer 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Geographic insights</a:t>
            </a:r>
            <a:r>
              <a:rPr lang="en-US" dirty="0"/>
              <a:t>: These top 10 cities represent the strongest markets, useful for regional targeting.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impact</a:t>
            </a:r>
            <a:r>
              <a:rPr lang="en-US" dirty="0"/>
              <a:t>: High‑volume cities may require more inventory, logistics support, and localized campaigns.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Strategic opportunities</a:t>
            </a:r>
            <a:r>
              <a:rPr lang="en-US" dirty="0"/>
              <a:t>: Lower‑ranked cities outside the top 10 could be nurtured with promotions to expand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Executive takeaway</a:t>
            </a:r>
            <a:r>
              <a:rPr lang="en-US" dirty="0"/>
              <a:t>: This visualization connects geographic distribution to business growth, guiding expansion and resource allocation.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31D79A-9B7E-1043-8292-4EACB091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977900"/>
            <a:ext cx="11156950" cy="792163"/>
          </a:xfrm>
        </p:spPr>
        <p:txBody>
          <a:bodyPr/>
          <a:lstStyle/>
          <a:p>
            <a:r>
              <a:rPr lang="en-US" dirty="0"/>
              <a:t>Top 10 Cities by Customer Count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5989C3-57F9-F2C8-4804-DA77BE6F5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246" y="1868128"/>
            <a:ext cx="6587612" cy="47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0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F719-98B6-332D-C6D2-4F65C194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344130"/>
            <a:ext cx="11155680" cy="114054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Top Product Categories Driving Sales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7F5C8-F71D-765E-1D77-704D7C7FC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760" y="1484672"/>
            <a:ext cx="5118309" cy="466048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A9D440F-E4AA-262C-8CED-BFC4FAE9FE15}"/>
              </a:ext>
            </a:extLst>
          </p:cNvPr>
          <p:cNvSpPr txBox="1"/>
          <p:nvPr/>
        </p:nvSpPr>
        <p:spPr>
          <a:xfrm>
            <a:off x="196645" y="2405963"/>
            <a:ext cx="61746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leaders: The bar chart highlights the top 10 categories contributing the most to total sales.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concentration: A few categories dominate, showing where customer demand is strongest.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Proportional share: The pie chart (top 5 categories) emphasizes how concentrated sales are among a handful of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16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762A-EF62-42B6-98F5-11CE5B4F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21226"/>
            <a:ext cx="11155680" cy="1587909"/>
          </a:xfrm>
        </p:spPr>
        <p:txBody>
          <a:bodyPr/>
          <a:lstStyle/>
          <a:p>
            <a:pPr algn="ctr"/>
            <a:r>
              <a:rPr lang="en-US" dirty="0"/>
              <a:t>Revenue Contribution by Product Category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BF17F-A8DD-DE83-A68C-3CC239FAD7A7}"/>
              </a:ext>
            </a:extLst>
          </p:cNvPr>
          <p:cNvSpPr txBox="1"/>
          <p:nvPr/>
        </p:nvSpPr>
        <p:spPr>
          <a:xfrm>
            <a:off x="154364" y="1809135"/>
            <a:ext cx="55483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Top categories dominate</a:t>
            </a:r>
            <a:r>
              <a:rPr lang="en-US" dirty="0"/>
              <a:t>: A handful of product categories contribute the majority of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Balanced view</a:t>
            </a:r>
            <a:r>
              <a:rPr lang="en-US" dirty="0"/>
              <a:t>: The bar chart shows detailed contribution of the top 10 categories, while the pie chart simplifies the distribution into top 6 plus “Other.”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Risk of dependency</a:t>
            </a:r>
            <a:r>
              <a:rPr lang="en-US" dirty="0"/>
              <a:t>: Heavy reliance on a few categories poses risk if demand shifts.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Diversification potential</a:t>
            </a:r>
            <a:r>
              <a:rPr lang="en-US" dirty="0"/>
              <a:t>: The “Other” group collectively represents meaningful revenue, offering opportunities for bundling, cross‑selling, or targeted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Executive takeaway</a:t>
            </a:r>
            <a:r>
              <a:rPr lang="en-US" dirty="0"/>
              <a:t>: This dual visualization balances </a:t>
            </a:r>
            <a:r>
              <a:rPr lang="en-US" b="1" dirty="0"/>
              <a:t>granular detail</a:t>
            </a:r>
            <a:r>
              <a:rPr lang="en-US" dirty="0"/>
              <a:t> with </a:t>
            </a:r>
            <a:r>
              <a:rPr lang="en-US" b="1" dirty="0"/>
              <a:t>high‑level summary</a:t>
            </a:r>
            <a:r>
              <a:rPr lang="en-US" dirty="0"/>
              <a:t>, guiding decisions on product prioritization and growth strategy.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664BD7-739B-ADEC-A267-49200CFCE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1809134"/>
            <a:ext cx="6266101" cy="47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2526-EFAC-A820-BE88-716CFE60B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9721"/>
          </a:xfrm>
        </p:spPr>
        <p:txBody>
          <a:bodyPr/>
          <a:lstStyle/>
          <a:p>
            <a:pPr algn="ctr"/>
            <a:r>
              <a:rPr lang="en-IN" dirty="0"/>
              <a:t>Year-over-Year Sales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49CBB-9824-0876-762E-C1207F771674}"/>
              </a:ext>
            </a:extLst>
          </p:cNvPr>
          <p:cNvSpPr txBox="1"/>
          <p:nvPr/>
        </p:nvSpPr>
        <p:spPr>
          <a:xfrm>
            <a:off x="285136" y="1976282"/>
            <a:ext cx="53880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sales trajectory: The blue line shows the scale of revenue growth across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Growth rate dynamics: The orange bars highlight the pace of change, showing acceleration or slowdown year to year.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Dual perspective: Combines absolute performance (sales volume) with relative performance (growth rate).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772A55-FCBE-AA2A-0777-3A5E3DB22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13" y="2045110"/>
            <a:ext cx="5986645" cy="33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F6FC-AF0F-351C-B0BD-51133094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07708"/>
          </a:xfrm>
        </p:spPr>
        <p:txBody>
          <a:bodyPr/>
          <a:lstStyle/>
          <a:p>
            <a:pPr algn="ctr"/>
            <a:r>
              <a:rPr lang="en-IN" dirty="0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6807-8F22-5BB4-BBC5-5323A7581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Key Takeaways &amp; The Road Ahead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Geographical distribution dictates where we should focus our targeted marketing efforts.</a:t>
            </a:r>
          </a:p>
          <a:p>
            <a:r>
              <a:rPr lang="en-US" dirty="0"/>
              <a:t>Installment payments are a strong driver for conversions and should be promoted.</a:t>
            </a:r>
            <a:r>
              <a:rPr lang="en-US" b="1" dirty="0"/>
              <a:t> </a:t>
            </a:r>
          </a:p>
          <a:p>
            <a:r>
              <a:rPr lang="en-US" b="1" dirty="0"/>
              <a:t>Next Steps:</a:t>
            </a:r>
            <a:r>
              <a:rPr lang="en-US" dirty="0"/>
              <a:t> Use these engineered features and insights to build predictive Machine Learning models for forecasting sales, anticipating churn, and optimizing inventory.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806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494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Sales Exploratory Data Analysis &amp; Business Insights</vt:lpstr>
      <vt:lpstr>Agenda</vt:lpstr>
      <vt:lpstr>Data Overview &amp; Objective</vt:lpstr>
      <vt:lpstr>Top 10 Cities by Customer Count</vt:lpstr>
      <vt:lpstr>Top Product Categories Driving Sales</vt:lpstr>
      <vt:lpstr>Revenue Contribution by Product Category</vt:lpstr>
      <vt:lpstr>Year-over-Year Sales Growth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logor84330@httpsu.com</dc:creator>
  <cp:lastModifiedBy>pooja shrivastava</cp:lastModifiedBy>
  <cp:revision>13</cp:revision>
  <dcterms:created xsi:type="dcterms:W3CDTF">2026-03-08T00:17:49Z</dcterms:created>
  <dcterms:modified xsi:type="dcterms:W3CDTF">2026-05-01T18:18:23Z</dcterms:modified>
</cp:coreProperties>
</file>